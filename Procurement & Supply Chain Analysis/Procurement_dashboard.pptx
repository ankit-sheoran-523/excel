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JetBrains Mono" panose="020B0604020202020204" charset="0"/>
      <p:regular r:id="rId16"/>
      <p:bold r:id="rId17"/>
      <p:italic r:id="rId18"/>
      <p:boldItalic r:id="rId19"/>
    </p:embeddedFont>
    <p:embeddedFont>
      <p:font typeface="JetBrains Mono SemiBold" panose="020B0604020202020204" charset="0"/>
      <p:regular r:id="rId20"/>
      <p:bold r:id="rId21"/>
      <p:italic r:id="rId22"/>
      <p:boldItalic r:id="rId23"/>
    </p:embeddedFont>
    <p:embeddedFont>
      <p:font typeface="Plus Jakarta Sans" panose="020B0604020202020204" charset="0"/>
      <p:regular r:id="rId24"/>
      <p:bold r:id="rId25"/>
      <p:italic r:id="rId26"/>
      <p:boldItalic r:id="rId27"/>
    </p:embeddedFont>
    <p:embeddedFont>
      <p:font typeface="Plus Jakarta Sans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3C7AC7-E1BF-4942-8D0A-2F521A6428D3}">
  <a:tblStyle styleId="{0D3C7AC7-E1BF-4942-8D0A-2F521A6428D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c55bf328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ec55bf328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5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31.png"/><Relationship Id="rId5" Type="http://schemas.openxmlformats.org/officeDocument/2006/relationships/image" Target="../media/image19.png"/><Relationship Id="rId10" Type="http://schemas.openxmlformats.org/officeDocument/2006/relationships/image" Target="../media/image30.png"/><Relationship Id="rId4" Type="http://schemas.openxmlformats.org/officeDocument/2006/relationships/image" Target="../media/image18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05288" y="2013049"/>
            <a:ext cx="11381422" cy="105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Procurement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 Optimization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207246"/>
            <a:ext cx="8572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76275" y="4150221"/>
            <a:ext cx="10839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3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676275" y="1114425"/>
            <a:ext cx="101247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Corporate purchase records spanned millions in capital, but executive leadership operated under substantial structural constraints: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42975" y="1686225"/>
            <a:ext cx="8217900" cy="524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Financial Opacity</a:t>
            </a:r>
            <a:r>
              <a:rPr lang="en-US" sz="1100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 centralized oversight across a multi-million-dollar corporate purchasing budget. Employee off-contract leakage is actively bypassing corporate savings programs and eroding profit margins. </a:t>
            </a:r>
            <a:endParaRPr dirty="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5" name="Google Shape;95;p14"/>
          <p:cNvSpPr/>
          <p:nvPr/>
        </p:nvSpPr>
        <p:spPr>
          <a:xfrm flipV="1">
            <a:off x="676275" y="2446912"/>
            <a:ext cx="8579094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42975" y="2646400"/>
            <a:ext cx="82179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Unquantified Savings Variance</a:t>
            </a:r>
            <a:r>
              <a:rPr lang="en-US" sz="1100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Total absence of structured analytical tools to verify if supplier invoicing matches negotiated corporate agreements. Leadership cannot mathematically validate negotiation ROI. </a:t>
            </a:r>
            <a:endParaRPr dirty="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76275" y="3430190"/>
            <a:ext cx="5229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42975" y="3587725"/>
            <a:ext cx="82179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Latent Quality Losses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 systematic linkage between downstream material defects and transactional vendor purchase records. Defective parts enter production without clear supplier accountability. 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42975" y="4558650"/>
            <a:ext cx="82179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Logistics Pipeline Disconnect</a:t>
            </a: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Fragmented and missing timestamps at the receiving dock prevent logistics audits on delivery latency. Management cannot reliably track shipment delays or vendor lead times. 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76275" y="4409291"/>
            <a:ext cx="5229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76275" y="2503537"/>
            <a:ext cx="5229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 flipV="1">
            <a:off x="676275" y="3399125"/>
            <a:ext cx="8631848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76275" y="4386184"/>
            <a:ext cx="8631848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19150" y="533400"/>
            <a:ext cx="11231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BUSINESS PROBLEM: FLYING BLIND 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676275" y="1177925"/>
            <a:ext cx="108396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 modeling calculations, I executed a structural audit across 1,000+ rows of flat CSV data, isolating several critical data anomalies:</a:t>
            </a:r>
            <a:endParaRPr/>
          </a:p>
        </p:txBody>
      </p:sp>
      <p:graphicFrame>
        <p:nvGraphicFramePr>
          <p:cNvPr id="111" name="Google Shape;111;p15"/>
          <p:cNvGraphicFramePr/>
          <p:nvPr/>
        </p:nvGraphicFramePr>
        <p:xfrm>
          <a:off x="676275" y="2058281"/>
          <a:ext cx="10839425" cy="3014125"/>
        </p:xfrm>
        <a:graphic>
          <a:graphicData uri="http://schemas.openxmlformats.org/drawingml/2006/table">
            <a:tbl>
              <a:tblPr firstRow="1" bandRow="1">
                <a:noFill/>
                <a:tableStyleId>{0D3C7AC7-E1BF-4942-8D0A-2F521A6428D3}</a:tableStyleId>
              </a:tblPr>
              <a:tblGrid>
                <a:gridCol w="251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Raw Column Field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Detected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Inherent Data Deficiency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Analytical Operational Risk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Order_Date / Delivery_Date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String / Mixed 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Dates stored under inconsistent syntax formats.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Broke temporal calculations and timeline tracking.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Unit_Price / Negotiated_Price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General / Blank Space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Missing monetary definitions and blank records.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Caused mathematical null errors in sum averages.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Supplier_Name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Unsanitized 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Rogue trailing/leading whitespaces.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Fragmented pivot metrics into duplicate suppliers.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Compliance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Text ("Yes" / "No")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Strict binary represented as descriptive strings.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Blocked direct mathematical weighting of risk scores.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2" name="Google Shape;112;p15"/>
          <p:cNvSpPr/>
          <p:nvPr/>
        </p:nvSpPr>
        <p:spPr>
          <a:xfrm>
            <a:off x="676275" y="2047762"/>
            <a:ext cx="2709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3386137" y="2047762"/>
            <a:ext cx="2167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8805713" y="2048051"/>
            <a:ext cx="2709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553967" y="2047762"/>
            <a:ext cx="3251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676275" y="2653172"/>
            <a:ext cx="2709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3386137" y="2653172"/>
            <a:ext cx="2167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553967" y="2653172"/>
            <a:ext cx="3251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8805713" y="2653172"/>
            <a:ext cx="2709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76275" y="3258294"/>
            <a:ext cx="27098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3386137" y="3258294"/>
            <a:ext cx="21678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5553967" y="3258294"/>
            <a:ext cx="32517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8805713" y="3258294"/>
            <a:ext cx="27100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RAW TRANSACTIONAL DATA AUDITING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2330041"/>
            <a:ext cx="2566987" cy="2543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3762" y="2330041"/>
            <a:ext cx="2566987" cy="2543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330041"/>
            <a:ext cx="2566987" cy="2543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48737" y="2330041"/>
            <a:ext cx="2566987" cy="254391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76275" y="1142647"/>
            <a:ext cx="10839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 architected an automated 4-tier ETL pipeline. By targeting file directory paths directly, any subsequent monthly CSV file additions will transform and self-load automatically: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568166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14400" y="3082516"/>
            <a:ext cx="21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1. Ingest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14400" y="3377791"/>
            <a:ext cx="2090700" cy="12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Established a live folder query link pointing directly to transactional archives, bypassing manual flat-file copy-pasting.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71887" y="2568166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3671887" y="3082516"/>
            <a:ext cx="21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2. Cleanse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3671887" y="3377791"/>
            <a:ext cx="2090700" cy="12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Executed global string sanitization via Power Query M-code to trim whitespaces and enforce strict data typing.</a:t>
            </a:r>
            <a:endParaRPr/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29375" y="2568166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6429375" y="3082516"/>
            <a:ext cx="21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3. Model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429375" y="3377791"/>
            <a:ext cx="2090700" cy="12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Constructed backend calculated columns and custom logic rules, bypassing volatile manual sheets entirely.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6862" y="2568166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9186862" y="3082516"/>
            <a:ext cx="21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4. Render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186862" y="3377791"/>
            <a:ext cx="2090700" cy="12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Saved the pipeline output directly to the workbook **Excel Data Model**, significantly reducing file size and computational lag.</a:t>
            </a:r>
            <a:endParaRPr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0125" y="2663416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57612" y="2663416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34150" y="2663416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91637" y="2663416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POWER QUERY INGESTION PIPELINE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1184" y="1897348"/>
            <a:ext cx="5229225" cy="829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1184" y="2791048"/>
            <a:ext cx="5229225" cy="73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1184" y="3684754"/>
            <a:ext cx="5229225" cy="73599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676275" y="1143735"/>
            <a:ext cx="9212140" cy="277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Rather than utilizing flat dimensions, I calculated the strategic business value layers explicitly using custom modeling formulas:</a:t>
            </a:r>
            <a:endParaRPr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962406" y="2001478"/>
            <a:ext cx="53241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Contract Savings calculation:</a:t>
            </a: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Determines the exact monetary delta achieved by negotiation teams compared to baseline market pricing.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962406" y="3029075"/>
            <a:ext cx="5324100" cy="7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Compliance Digitization:</a:t>
            </a: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Converted text-based strings ("Yes"/"No") into strict mathematical binary integers to enable weighted risk-scoring averages.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62406" y="4385579"/>
            <a:ext cx="53241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Quality Fail Isolation:</a:t>
            </a: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Formulated error-handled defect percentages per delivery volume.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499246" y="2085001"/>
            <a:ext cx="2654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1. Total Negotiated Savings Metric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536659" y="2938722"/>
            <a:ext cx="2690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2. Numerical Compliance Conversion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536659" y="3838843"/>
            <a:ext cx="2563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3. Error-Handled Defect Metric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676275" y="2823641"/>
            <a:ext cx="5610300" cy="13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676275" y="4180146"/>
            <a:ext cx="5610300" cy="13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CALCULATED FORMULA &amp; METRIC ENGINEERING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4">
            <a:alphaModFix/>
          </a:blip>
          <a:srcRect b="34653"/>
          <a:stretch/>
        </p:blipFill>
        <p:spPr>
          <a:xfrm>
            <a:off x="6615000" y="2250134"/>
            <a:ext cx="5229225" cy="182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676275" y="1114425"/>
            <a:ext cx="7717448" cy="55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Evaluating lead times dynamically represents a real-world supply chain hurdle. Pending or cancelled shipments have empty delivery fields, causing errors in date subtraction:</a:t>
            </a:r>
            <a:endParaRPr dirty="0"/>
          </a:p>
        </p:txBody>
      </p:sp>
      <p:sp>
        <p:nvSpPr>
          <p:cNvPr id="180" name="Google Shape;180;p18"/>
          <p:cNvSpPr txBox="1"/>
          <p:nvPr/>
        </p:nvSpPr>
        <p:spPr>
          <a:xfrm>
            <a:off x="960004" y="2367363"/>
            <a:ext cx="52794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Targeted Imputation Gates:</a:t>
            </a: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Engineered logical layers to inspect shipment status flags before executing date calculations.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60004" y="3208325"/>
            <a:ext cx="52794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In-Transit Separation:</a:t>
            </a: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Orders on route are flagged safely as "In Progress" without breaking global average timelines.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60004" y="4049286"/>
            <a:ext cx="5279400" cy="7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Dock Failure Isolation: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Identified a structural failure where items were checked "Delivered" but lacked scan stamps, isolating them as "Not Updated" for audit reviews.</a:t>
            </a:r>
            <a:endParaRPr dirty="0"/>
          </a:p>
        </p:txBody>
      </p:sp>
      <p:sp>
        <p:nvSpPr>
          <p:cNvPr id="183" name="Google Shape;183;p18"/>
          <p:cNvSpPr txBox="1"/>
          <p:nvPr/>
        </p:nvSpPr>
        <p:spPr>
          <a:xfrm>
            <a:off x="6676442" y="2431258"/>
            <a:ext cx="4519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Standardizing dates and handling missing delivery timestamps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676275" y="3040203"/>
            <a:ext cx="5563200" cy="11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676275" y="3881163"/>
            <a:ext cx="5563200" cy="11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HANDLING TIMELINE EXCEPTIONS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397907"/>
            <a:ext cx="5229225" cy="39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1775" y="3154219"/>
            <a:ext cx="4638674" cy="60169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676275" y="1114425"/>
            <a:ext cx="5610300" cy="55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 identify where the Chief Procurement Officer should target contract renegotiations, I modeled the </a:t>
            </a:r>
            <a:r>
              <a:rPr lang="en-US" sz="1162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Pareto Principle</a:t>
            </a:r>
            <a:r>
              <a:rPr lang="en-US" sz="1162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directly within the Pivot engine:</a:t>
            </a:r>
            <a:endParaRPr dirty="0"/>
          </a:p>
        </p:txBody>
      </p:sp>
      <p:pic>
        <p:nvPicPr>
          <p:cNvPr id="195" name="Google Shape;19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0612" y="2153378"/>
            <a:ext cx="381000" cy="47659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7872412" y="2808691"/>
            <a:ext cx="2160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Cumulative Percent Formula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581775" y="3934638"/>
            <a:ext cx="46386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Allows the CPO to immediately isolate the precise handful of suppliers requiring priority contract focus.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42975" y="2085064"/>
            <a:ext cx="496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Spend Core:</a:t>
            </a: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Plotted cumulative spending totals to verify if 80% of corporate cash is controlled by just 20% of vendors.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42975" y="3182697"/>
            <a:ext cx="4962600" cy="7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Multi-Field Pivot Logic:</a:t>
            </a: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Duplicated the total spend metric inside the value structure, changing the second array to </a:t>
            </a:r>
            <a:r>
              <a:rPr lang="en-US" sz="1162" b="0" i="1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"% Running Total In"</a:t>
            </a: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sorted by supplier descending.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42975" y="4631654"/>
            <a:ext cx="4962600" cy="7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Visual Integration:</a:t>
            </a: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Rendered a dynamic dual-axis Combo chart mapping static spend blocks alongside a running cumulative percentage curve.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676275" y="2963262"/>
            <a:ext cx="52293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76275" y="4412219"/>
            <a:ext cx="52293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ISOLATING COST VIA THE 80/20 STRATEGY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4903920"/>
            <a:ext cx="10839451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" y="1600351"/>
            <a:ext cx="3486150" cy="29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52925" y="1600351"/>
            <a:ext cx="3486150" cy="29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29575" y="1600351"/>
            <a:ext cx="3486150" cy="29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676275" y="1171121"/>
            <a:ext cx="108396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 structured a clean UI that mimics native web applications, bypassing slow Excel default slicer actions through a decoupling technique: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37937" y="5034343"/>
            <a:ext cx="3486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UI calculation parsing user interactive clicks</a:t>
            </a:r>
            <a:endParaRPr/>
          </a:p>
        </p:txBody>
      </p:sp>
      <p:pic>
        <p:nvPicPr>
          <p:cNvPr id="216" name="Google Shape;21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4400" y="1900646"/>
            <a:ext cx="361950" cy="45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914400" y="2549285"/>
            <a:ext cx="3160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1. Custom Slicers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914400" y="2921652"/>
            <a:ext cx="3009900" cy="7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Constructed native dashboard slicer fields, completely customized to operate as slick, website-like selection buttons.</a:t>
            </a:r>
            <a:endParaRPr/>
          </a:p>
        </p:txBody>
      </p:sp>
      <p:pic>
        <p:nvPicPr>
          <p:cNvPr id="219" name="Google Shape;219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91050" y="1900646"/>
            <a:ext cx="361950" cy="45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4591050" y="2549285"/>
            <a:ext cx="3160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2. Secret Pivot Bridge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591050" y="2921652"/>
            <a:ext cx="3009900" cy="7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Selection triggers secretly update a hidden 1-cell Pivot sheet (`Bridge_Sheet!$P$2`) holding target records.</a:t>
            </a:r>
            <a:endParaRPr/>
          </a:p>
        </p:txBody>
      </p:sp>
      <p:pic>
        <p:nvPicPr>
          <p:cNvPr id="222" name="Google Shape;222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67700" y="1900646"/>
            <a:ext cx="361950" cy="45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8267700" y="2549285"/>
            <a:ext cx="3160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3. Dynamic Lookup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267700" y="2921652"/>
            <a:ext cx="3009900" cy="7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KPI UI blocks read the bridge coordinate via index functions, updating statistics instantly without screen flashing.</a:t>
            </a:r>
            <a:endParaRPr/>
          </a:p>
        </p:txBody>
      </p:sp>
      <p:pic>
        <p:nvPicPr>
          <p:cNvPr id="225" name="Google Shape;225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9175" y="2020765"/>
            <a:ext cx="152400" cy="216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62487" y="2020765"/>
            <a:ext cx="219075" cy="216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62950" y="2020765"/>
            <a:ext cx="171450" cy="21621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"INVISIBLE BRIDGE" UI ARCHITECTURE</a:t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8074429" y="1799304"/>
            <a:ext cx="384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Dashboard Design Protocol</a:t>
            </a:r>
            <a:endParaRPr dirty="0"/>
          </a:p>
        </p:txBody>
      </p:sp>
      <p:sp>
        <p:nvSpPr>
          <p:cNvPr id="236" name="Google Shape;236;p21"/>
          <p:cNvSpPr txBox="1"/>
          <p:nvPr/>
        </p:nvSpPr>
        <p:spPr>
          <a:xfrm>
            <a:off x="8074429" y="2266582"/>
            <a:ext cx="36603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finished production dashboard features a highly professional, polished **Sourcing-Green palette**, systematically clean charts, and rapid slicer responsiveness.</a:t>
            </a:r>
            <a:endParaRPr dirty="0"/>
          </a:p>
        </p:txBody>
      </p:sp>
      <p:pic>
        <p:nvPicPr>
          <p:cNvPr id="237" name="Google Shape;237;p21" title="Screenshot 2026-06-15 172638.png"/>
          <p:cNvPicPr preferRelativeResize="0"/>
          <p:nvPr/>
        </p:nvPicPr>
        <p:blipFill rotWithShape="1">
          <a:blip r:embed="rId4">
            <a:alphaModFix/>
          </a:blip>
          <a:srcRect t="1681" b="1681"/>
          <a:stretch/>
        </p:blipFill>
        <p:spPr>
          <a:xfrm>
            <a:off x="685800" y="1409750"/>
            <a:ext cx="6990174" cy="45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8341129" y="3625025"/>
            <a:ext cx="3393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Real-Time Audits: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C-Suite view of total spend, calculated margins, and defect statistics.</a:t>
            </a:r>
            <a:endParaRPr dirty="0"/>
          </a:p>
        </p:txBody>
      </p:sp>
      <p:sp>
        <p:nvSpPr>
          <p:cNvPr id="239" name="Google Shape;239;p21"/>
          <p:cNvSpPr/>
          <p:nvPr/>
        </p:nvSpPr>
        <p:spPr>
          <a:xfrm>
            <a:off x="8036911" y="3492518"/>
            <a:ext cx="366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8341129" y="4626750"/>
            <a:ext cx="3393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Dynamic Filtering: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Instant evaluation of any vendor on a single click.</a:t>
            </a:r>
            <a:endParaRPr dirty="0"/>
          </a:p>
        </p:txBody>
      </p:sp>
      <p:sp>
        <p:nvSpPr>
          <p:cNvPr id="241" name="Google Shape;241;p21"/>
          <p:cNvSpPr/>
          <p:nvPr/>
        </p:nvSpPr>
        <p:spPr>
          <a:xfrm>
            <a:off x="8078823" y="4453088"/>
            <a:ext cx="3660300" cy="13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EXECUTIVE CONTROL CENTER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676275" y="2129816"/>
            <a:ext cx="25146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0" i="0" u="none" strike="noStrike" cap="none">
                <a:solidFill>
                  <a:srgbClr val="059669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8.0%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962025" y="3578449"/>
            <a:ext cx="19431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NEGOTIATED SAVINGS RATE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3962400" y="1487700"/>
            <a:ext cx="7931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Technology Savings Masked Severe Materials Sourcing Deficit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3962400" y="2030716"/>
            <a:ext cx="75534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completed model calculated that the purchasing team successfully saved </a:t>
            </a:r>
            <a:r>
              <a:rPr lang="en-US" sz="1162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8.0% overall</a:t>
            </a: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against standard market prices—a solid baseline rating.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3962400" y="2962084"/>
            <a:ext cx="7553400" cy="831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Core Spend Discrepancy: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Granular analytical grouping revealed a major cost leak. While Technology Hardware returned a top-tier </a:t>
            </a:r>
            <a:r>
              <a:rPr lang="en-US" sz="1162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62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14.2% savings yield</a:t>
            </a:r>
            <a:r>
              <a:rPr lang="en-US" sz="1162" b="1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62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our highest spend area—</a:t>
            </a:r>
            <a:r>
              <a:rPr lang="en-US" sz="1162" b="0" i="0" u="none" strike="noStrike" cap="none" dirty="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Raw Materials—generated only a minimal 4.1% discount.</a:t>
            </a:r>
            <a:endParaRPr dirty="0"/>
          </a:p>
        </p:txBody>
      </p:sp>
      <p:sp>
        <p:nvSpPr>
          <p:cNvPr id="254" name="Google Shape;254;p22"/>
          <p:cNvSpPr txBox="1"/>
          <p:nvPr/>
        </p:nvSpPr>
        <p:spPr>
          <a:xfrm>
            <a:off x="3962400" y="4266050"/>
            <a:ext cx="7553400" cy="831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62" b="0" i="0" u="none" strike="noStrike" cap="none" dirty="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proved employees were purchasing core, high-volume Raw Materials near standard market rates instead of leveraging corporate discounts.</a:t>
            </a:r>
            <a:endParaRPr dirty="0"/>
          </a:p>
        </p:txBody>
      </p:sp>
      <p:sp>
        <p:nvSpPr>
          <p:cNvPr id="255" name="Google Shape;255;p22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SOURCING INSIGHTS &amp; COST LEAKS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714388" y="1445717"/>
            <a:ext cx="108396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By establishing transactional link joins between purchase logs, lead timelines, and defect files, I extracted a comprehensive vendor rating matrix: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676213" y="5626967"/>
            <a:ext cx="108396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Core Liability:</a:t>
            </a:r>
            <a:r>
              <a:rPr lang="en-US" sz="1087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Delta Raw Supply Co. represents our largest corporate risk, carrying failing compliance scores, excessive defect rates, and minimum discount performance.</a:t>
            </a:r>
            <a:endParaRPr/>
          </a:p>
        </p:txBody>
      </p:sp>
      <p:graphicFrame>
        <p:nvGraphicFramePr>
          <p:cNvPr id="264" name="Google Shape;264;p23"/>
          <p:cNvGraphicFramePr/>
          <p:nvPr/>
        </p:nvGraphicFramePr>
        <p:xfrm>
          <a:off x="714375" y="2578740"/>
          <a:ext cx="10839475" cy="1931500"/>
        </p:xfrm>
        <a:graphic>
          <a:graphicData uri="http://schemas.openxmlformats.org/drawingml/2006/table">
            <a:tbl>
              <a:tblPr firstRow="1" bandRow="1">
                <a:noFill/>
                <a:tableStyleId>{0D3C7AC7-E1BF-4942-8D0A-2F521A6428D3}</a:tableStyleId>
              </a:tblPr>
              <a:tblGrid>
                <a:gridCol w="249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1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8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Supplier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Spend Volume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Savings Yield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Defect Rate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Compliance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Strategic Recommendation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Alpha Logistics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$4,573,686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12.6%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6AA84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 Compliant</a:t>
                      </a:r>
                      <a:endParaRPr>
                        <a:solidFill>
                          <a:srgbClr val="6AA84F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Maintain / Expand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Gamma Tech Systems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$2,105,992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15.0%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6AA84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95% Compliant</a:t>
                      </a:r>
                      <a:endParaRPr>
                        <a:solidFill>
                          <a:srgbClr val="6AA84F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Strategic Partner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Delta Raw Supply Co.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$1,440,211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DC2626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7.2% (Critical)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A61C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72% Failing</a:t>
                      </a:r>
                      <a:endParaRPr>
                        <a:solidFill>
                          <a:srgbClr val="A61C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DC2626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Remediation / Cut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5" name="Google Shape;265;p23"/>
          <p:cNvSpPr/>
          <p:nvPr/>
        </p:nvSpPr>
        <p:spPr>
          <a:xfrm>
            <a:off x="676275" y="2218283"/>
            <a:ext cx="2499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3175694" y="2218283"/>
            <a:ext cx="2033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208984" y="2218283"/>
            <a:ext cx="1541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6750248" y="2218283"/>
            <a:ext cx="15362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8286452" y="2218283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9867602" y="2218283"/>
            <a:ext cx="16481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676275" y="3084462"/>
            <a:ext cx="2499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3175694" y="3084462"/>
            <a:ext cx="2033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208984" y="3084462"/>
            <a:ext cx="1541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6750248" y="3084462"/>
            <a:ext cx="15362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8286452" y="3084462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9867602" y="3084462"/>
            <a:ext cx="16481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676275" y="3517552"/>
            <a:ext cx="2499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3175694" y="3517552"/>
            <a:ext cx="2033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208984" y="3517552"/>
            <a:ext cx="1541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6750248" y="3517552"/>
            <a:ext cx="15362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8286452" y="3517552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9867602" y="3517552"/>
            <a:ext cx="16481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SUPPLIER COMPLIANCE SCORECARD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954826"/>
            <a:ext cx="3486150" cy="2315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954826"/>
            <a:ext cx="3486150" cy="2315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9575" y="1954826"/>
            <a:ext cx="3486150" cy="2315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192951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4"/>
          <p:cNvSpPr txBox="1"/>
          <p:nvPr/>
        </p:nvSpPr>
        <p:spPr>
          <a:xfrm>
            <a:off x="914400" y="2707301"/>
            <a:ext cx="316039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1. Optimize Supply Base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914400" y="3002576"/>
            <a:ext cx="3009900" cy="91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Initiate immediate contract volume reallocation away from Delta Raw Supply Co. directly towards highly compliant vendors like Alpha Logistics.</a:t>
            </a:r>
            <a:endParaRPr/>
          </a:p>
        </p:txBody>
      </p:sp>
      <p:pic>
        <p:nvPicPr>
          <p:cNvPr id="296" name="Google Shape;296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91050" y="2192951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4"/>
          <p:cNvSpPr txBox="1"/>
          <p:nvPr/>
        </p:nvSpPr>
        <p:spPr>
          <a:xfrm>
            <a:off x="4591050" y="2707301"/>
            <a:ext cx="316039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2. Standardize Dock Scans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4591050" y="3002576"/>
            <a:ext cx="3009900" cy="91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Enforce mandatory barcode scans at delivery docks upon material arrivals to permanently eliminate the 8.2% "Not Updated" tracking blind spot.</a:t>
            </a:r>
            <a:endParaRPr/>
          </a:p>
        </p:txBody>
      </p:sp>
      <p:pic>
        <p:nvPicPr>
          <p:cNvPr id="299" name="Google Shape;299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67700" y="2192951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4"/>
          <p:cNvSpPr txBox="1"/>
          <p:nvPr/>
        </p:nvSpPr>
        <p:spPr>
          <a:xfrm>
            <a:off x="8267700" y="2707301"/>
            <a:ext cx="316039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3. Realign Sourcing Assets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8267700" y="3002576"/>
            <a:ext cx="3009900" cy="91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Transition top procurement negotiators away from Tech Hardware and focus them on renegotiating core Raw Materials contracts to recover profit leaks.</a:t>
            </a:r>
            <a:endParaRPr/>
          </a:p>
        </p:txBody>
      </p:sp>
      <p:pic>
        <p:nvPicPr>
          <p:cNvPr id="302" name="Google Shape;302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9650" y="228820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86300" y="228820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39137" y="2288201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4"/>
          <p:cNvSpPr txBox="1"/>
          <p:nvPr/>
        </p:nvSpPr>
        <p:spPr>
          <a:xfrm>
            <a:off x="819150" y="533400"/>
            <a:ext cx="1123140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STRATEGIC SOURCING ACTION PLAN</a:t>
            </a: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676275" y="53340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0" y="2277705"/>
            <a:ext cx="1219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 YOU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4765475" y="2935387"/>
            <a:ext cx="2784900" cy="31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3129350"/>
            <a:ext cx="10839451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 txBox="1"/>
          <p:nvPr/>
        </p:nvSpPr>
        <p:spPr>
          <a:xfrm>
            <a:off x="2718648" y="3424625"/>
            <a:ext cx="12477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Ankit Sheoran</a:t>
            </a:r>
            <a:endParaRPr dirty="0"/>
          </a:p>
        </p:txBody>
      </p:sp>
      <p:sp>
        <p:nvSpPr>
          <p:cNvPr id="316" name="Google Shape;316;p25"/>
          <p:cNvSpPr txBox="1"/>
          <p:nvPr/>
        </p:nvSpPr>
        <p:spPr>
          <a:xfrm>
            <a:off x="4252172" y="3424625"/>
            <a:ext cx="2730747" cy="15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r>
              <a:rPr lang="en-IN" sz="975" dirty="0">
                <a:solidFill>
                  <a:srgbClr val="475569"/>
                </a:solidFill>
                <a:latin typeface="JetBrains Mono"/>
                <a:cs typeface="JetBrains Mono"/>
              </a:rPr>
              <a:t>ankit-sheoran-523 (Ankit Sheoran)</a:t>
            </a:r>
            <a:endParaRPr sz="975" dirty="0">
              <a:solidFill>
                <a:srgbClr val="475569"/>
              </a:solidFill>
              <a:latin typeface="JetBrains Mono"/>
              <a:cs typeface="JetBrains Mono"/>
            </a:endParaRPr>
          </a:p>
        </p:txBody>
      </p:sp>
      <p:sp>
        <p:nvSpPr>
          <p:cNvPr id="317" name="Google Shape;317;p25"/>
          <p:cNvSpPr txBox="1"/>
          <p:nvPr/>
        </p:nvSpPr>
        <p:spPr>
          <a:xfrm>
            <a:off x="6982919" y="3424625"/>
            <a:ext cx="3333382" cy="15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lvl="0"/>
            <a:r>
              <a:rPr lang="en-US" sz="975" b="0" i="0" u="none" strike="noStrike" cap="none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dirty="0">
                <a:solidFill>
                  <a:srgbClr val="475569"/>
                </a:solidFill>
                <a:latin typeface="JetBrains Mono"/>
                <a:cs typeface="JetBrains Mono"/>
                <a:sym typeface="JetBrains Mono"/>
              </a:rPr>
              <a:t>linkedin.com/in/ankit-sheoran-349740159</a:t>
            </a:r>
            <a:endParaRPr sz="975" dirty="0">
              <a:solidFill>
                <a:srgbClr val="475569"/>
              </a:solidFill>
              <a:latin typeface="JetBrains Mono"/>
              <a:cs typeface="JetBrains Mono"/>
            </a:endParaRPr>
          </a:p>
        </p:txBody>
      </p:sp>
      <p:pic>
        <p:nvPicPr>
          <p:cNvPr id="318" name="Google Shape;31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18648" y="3443675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52173" y="3443675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70846" y="3443675"/>
            <a:ext cx="104775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1193</Words>
  <Application>Microsoft Office PowerPoint</Application>
  <PresentationFormat>Widescreen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Plus Jakarta Sans SemiBold</vt:lpstr>
      <vt:lpstr>Calibri</vt:lpstr>
      <vt:lpstr>Plus Jakarta Sans</vt:lpstr>
      <vt:lpstr>JetBrains Mono SemiBold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Ankit Sheoran</cp:lastModifiedBy>
  <cp:revision>1</cp:revision>
  <dcterms:modified xsi:type="dcterms:W3CDTF">2026-06-16T14:42:14Z</dcterms:modified>
</cp:coreProperties>
</file>